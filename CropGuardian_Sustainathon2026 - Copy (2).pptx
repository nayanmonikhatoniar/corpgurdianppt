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3" r:id="rId6"/>
    <p:sldId id="260" r:id="rId7"/>
    <p:sldId id="27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90A4AE"/>
                </a:solidFill>
                <a:latin typeface="Arial"/>
              </a:rPr>
              <a:t>Performance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Flood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FF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Water Saved</c:v>
                </c:pt>
                <c:pt idx="1">
                  <c:v>CO₂ Reduction</c:v>
                </c:pt>
                <c:pt idx="2">
                  <c:v>ROI (×)</c:v>
                </c:pt>
                <c:pt idx="3">
                  <c:v>Chemical Opt.</c:v>
                </c:pt>
                <c:pt idx="4">
                  <c:v>Energy Indep.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-20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53-463F-B7D8-3B821763AE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Commercial IoT (Rs 15K)</c:v>
                </c:pt>
              </c:strCache>
            </c:strRef>
          </c:tx>
          <c:spPr>
            <a:solidFill>
              <a:srgbClr val="005F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FF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Water Saved</c:v>
                </c:pt>
                <c:pt idx="1">
                  <c:v>CO₂ Reduction</c:v>
                </c:pt>
                <c:pt idx="2">
                  <c:v>ROI (×)</c:v>
                </c:pt>
                <c:pt idx="3">
                  <c:v>Chemical Opt.</c:v>
                </c:pt>
                <c:pt idx="4">
                  <c:v>Energy Indep.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38</c:v>
                </c:pt>
                <c:pt idx="2">
                  <c:v>25</c:v>
                </c:pt>
                <c:pt idx="3">
                  <c:v>60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53-463F-B7D8-3B821763AE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Crop Guardian (Rs 2,499)</c:v>
                </c:pt>
              </c:strCache>
            </c:strRef>
          </c:tx>
          <c:spPr>
            <a:solidFill>
              <a:srgbClr val="00C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FF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Water Saved</c:v>
                </c:pt>
                <c:pt idx="1">
                  <c:v>CO₂ Reduction</c:v>
                </c:pt>
                <c:pt idx="2">
                  <c:v>ROI (×)</c:v>
                </c:pt>
                <c:pt idx="3">
                  <c:v>Chemical Opt.</c:v>
                </c:pt>
                <c:pt idx="4">
                  <c:v>Energy Indep.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45</c:v>
                </c:pt>
                <c:pt idx="1">
                  <c:v>100</c:v>
                </c:pt>
                <c:pt idx="2">
                  <c:v>91</c:v>
                </c:pt>
                <c:pt idx="3">
                  <c:v>95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53-463F-B7D8-3B821763AE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-30"/>
        </c:scaling>
        <c:delete val="0"/>
        <c:axPos val="l"/>
        <c:majorGridlines>
          <c:spPr>
            <a:ln w="6350" cap="flat">
              <a:solidFill>
                <a:srgbClr val="1E3E1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0E0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0A4AE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90A4AE"/>
                </a:solidFill>
                <a:latin typeface="Arial"/>
              </a:rPr>
              <a:t>CO₂ Sources Eliminated (kg/day)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Carbon Savings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1F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A40-4B7E-BC5F-371E6BED4802}"/>
              </c:ext>
            </c:extLst>
          </c:dPt>
          <c:dPt>
            <c:idx val="1"/>
            <c:bubble3D val="0"/>
            <c:spPr>
              <a:solidFill>
                <a:srgbClr val="00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40-4B7E-BC5F-371E6BED4802}"/>
              </c:ext>
            </c:extLst>
          </c:dPt>
          <c:dPt>
            <c:idx val="2"/>
            <c:bubble3D val="0"/>
            <c:spPr>
              <a:solidFill>
                <a:srgbClr val="69F0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40-4B7E-BC5F-371E6BED4802}"/>
              </c:ext>
            </c:extLst>
          </c:dPt>
          <c:dPt>
            <c:idx val="3"/>
            <c:bubble3D val="0"/>
            <c:spPr>
              <a:solidFill>
                <a:srgbClr val="FFA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A40-4B7E-BC5F-371E6BED480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A40-4B7E-BC5F-371E6BED480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A40-4B7E-BC5F-371E6BED480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A40-4B7E-BC5F-371E6BED480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A40-4B7E-BC5F-371E6BED480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Diesel Saved</c:v>
                </c:pt>
                <c:pt idx="1">
                  <c:v>Bamboo Gasif. Biogenic</c:v>
                </c:pt>
                <c:pt idx="2">
                  <c:v>Biochar Seq.</c:v>
                </c:pt>
                <c:pt idx="3">
                  <c:v>Solar Operation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2.8</c:v>
                </c:pt>
                <c:pt idx="2">
                  <c:v>1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A40-4B7E-BC5F-371E6BED4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0A4A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0E0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90A4AE"/>
                </a:solidFill>
                <a:latin typeface="Arial"/>
              </a:rPr>
              <a:t>Monthly Profit: Traditional vs Crop Guardian (Rs)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Farming (Rs)</c:v>
                </c:pt>
              </c:strCache>
            </c:strRef>
          </c:tx>
          <c:spPr>
            <a:ln w="38100" cap="flat">
              <a:solidFill>
                <a:srgbClr val="C41F1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1F1F"/>
              </a:solidFill>
              <a:ln w="9525" cap="flat">
                <a:solidFill>
                  <a:srgbClr val="C41F1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-1200</c:v>
                </c:pt>
                <c:pt idx="1">
                  <c:v>-1100</c:v>
                </c:pt>
                <c:pt idx="2">
                  <c:v>-1400</c:v>
                </c:pt>
                <c:pt idx="3">
                  <c:v>-900</c:v>
                </c:pt>
                <c:pt idx="4">
                  <c:v>-1300</c:v>
                </c:pt>
                <c:pt idx="5">
                  <c:v>-1100</c:v>
                </c:pt>
                <c:pt idx="6">
                  <c:v>-1200</c:v>
                </c:pt>
                <c:pt idx="7">
                  <c:v>-1000</c:v>
                </c:pt>
                <c:pt idx="8">
                  <c:v>-1100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935-4C84-9094-E555DE7781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Crop Guardian (Rs)</c:v>
                </c:pt>
              </c:strCache>
            </c:strRef>
          </c:tx>
          <c:spPr>
            <a:ln w="38100" cap="flat">
              <a:solidFill>
                <a:srgbClr val="00C4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46A"/>
              </a:solidFill>
              <a:ln w="9525" cap="flat">
                <a:solidFill>
                  <a:srgbClr val="00C46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800</c:v>
                </c:pt>
                <c:pt idx="1">
                  <c:v>1400</c:v>
                </c:pt>
                <c:pt idx="2">
                  <c:v>2100</c:v>
                </c:pt>
                <c:pt idx="3">
                  <c:v>3000</c:v>
                </c:pt>
                <c:pt idx="4">
                  <c:v>4200</c:v>
                </c:pt>
                <c:pt idx="5">
                  <c:v>5800</c:v>
                </c:pt>
                <c:pt idx="6">
                  <c:v>7500</c:v>
                </c:pt>
                <c:pt idx="7">
                  <c:v>9200</c:v>
                </c:pt>
                <c:pt idx="8">
                  <c:v>11000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935-4C84-9094-E555DE7781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E1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0E0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B0BE-3336-6EC0-2D41-079FCD93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DB6D9-420A-C6BC-EA0D-D2CC9B1FB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A690B-A06E-7579-DE6A-D619547F9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E0A94-FB55-03CB-48E9-14143E9C3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8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81208"/>
          </a:solidFill>
          <a:ln w="12700">
            <a:solidFill>
              <a:srgbClr val="0812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64008" cy="685800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62088" y="0"/>
            <a:ext cx="4599432" cy="6858000"/>
          </a:xfrm>
          <a:prstGeom prst="rect">
            <a:avLst/>
          </a:prstGeom>
          <a:solidFill>
            <a:srgbClr val="0C1A0C"/>
          </a:solidFill>
          <a:ln w="12700">
            <a:solidFill>
              <a:srgbClr val="0C1A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365760"/>
            <a:ext cx="5120640" cy="5120640"/>
          </a:xfrm>
          <a:prstGeom prst="ellipse">
            <a:avLst/>
          </a:prstGeom>
          <a:solidFill>
            <a:srgbClr val="1B5E20">
              <a:alpha val="28000"/>
            </a:srgbClr>
          </a:solidFill>
          <a:ln w="6350">
            <a:solidFill>
              <a:srgbClr val="00C4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383280"/>
            <a:ext cx="3291840" cy="3291840"/>
          </a:xfrm>
          <a:prstGeom prst="ellipse">
            <a:avLst/>
          </a:prstGeom>
          <a:solidFill>
            <a:srgbClr val="2E7D32">
              <a:alpha val="22000"/>
            </a:srgbClr>
          </a:solidFill>
          <a:ln w="6350">
            <a:solidFill>
              <a:srgbClr val="00C4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91440"/>
            <a:ext cx="2560320" cy="2560320"/>
          </a:xfrm>
          <a:prstGeom prst="ellipse">
            <a:avLst/>
          </a:prstGeom>
          <a:solidFill>
            <a:srgbClr val="1B5E20">
              <a:alpha val="20000"/>
            </a:srgbClr>
          </a:solidFill>
          <a:ln w="6350">
            <a:solidFill>
              <a:srgbClr val="00C46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097280"/>
            <a:ext cx="1828800" cy="1828800"/>
          </a:xfrm>
          <a:prstGeom prst="ellipse">
            <a:avLst/>
          </a:prstGeom>
          <a:solidFill>
            <a:srgbClr val="2E7D32">
              <a:alpha val="18000"/>
            </a:srgbClr>
          </a:solidFill>
          <a:ln w="6350">
            <a:solidFill>
              <a:srgbClr val="00C46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3716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</a:rPr>
              <a:t>🌿</a:t>
            </a:r>
            <a:endParaRPr lang="en-US" sz="12000" dirty="0"/>
          </a:p>
        </p:txBody>
      </p:sp>
      <p:sp>
        <p:nvSpPr>
          <p:cNvPr id="10" name="Shape 8"/>
          <p:cNvSpPr/>
          <p:nvPr/>
        </p:nvSpPr>
        <p:spPr>
          <a:xfrm>
            <a:off x="7863840" y="5943600"/>
            <a:ext cx="393192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5943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1148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777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0" b="1" kern="0" spc="600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</a:t>
            </a:r>
            <a:endParaRPr lang="en-US" sz="8200" dirty="0"/>
          </a:p>
        </p:txBody>
      </p:sp>
      <p:sp>
        <p:nvSpPr>
          <p:cNvPr id="14" name="Text 12"/>
          <p:cNvSpPr/>
          <p:nvPr/>
        </p:nvSpPr>
        <p:spPr>
          <a:xfrm>
            <a:off x="365760" y="1737360"/>
            <a:ext cx="6858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4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ESP32 Precision Agriculture Platform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50208"/>
            <a:ext cx="6400800" cy="274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9651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NAYANMONI KHATONIAR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— Crop Guardian  · 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956048"/>
            <a:ext cx="1536192" cy="804672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956048"/>
            <a:ext cx="153619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029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2,499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546811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57400" y="4956048"/>
            <a:ext cx="1536192" cy="804672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57400" y="4956048"/>
            <a:ext cx="153619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029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057400" y="546811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49040" y="4956048"/>
            <a:ext cx="1536192" cy="804672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0" y="4956048"/>
            <a:ext cx="153619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5029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−1.7kg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749040" y="546811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CO₂/Acre/Day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40680" y="4956048"/>
            <a:ext cx="1536192" cy="804672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40680" y="4956048"/>
            <a:ext cx="153619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5029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40680" y="546811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0282" y="1920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CRISES DESTROYING ASSAM'S FARMERS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million smallholders losing Rs 12,400 rupees per acre each year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657600" cy="2286000"/>
          </a:xfrm>
          <a:prstGeom prst="rect">
            <a:avLst/>
          </a:prstGeom>
          <a:solidFill>
            <a:srgbClr val="102010"/>
          </a:solidFill>
          <a:ln w="6350">
            <a:solidFill>
              <a:srgbClr val="1E3E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6576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04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14721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Cycle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3474720" cy="182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00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irrigation delivers 500L regardless of need. Brahmaputra watershed salinisation accelerating.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1417320"/>
            <a:ext cx="3657600" cy="2286000"/>
          </a:xfrm>
          <a:prstGeom prst="rect">
            <a:avLst/>
          </a:prstGeom>
          <a:solidFill>
            <a:srgbClr val="102010"/>
          </a:solidFill>
          <a:ln w="6350">
            <a:solidFill>
              <a:srgbClr val="1E3E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417320"/>
            <a:ext cx="36576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4904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64608" y="14721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+2.1kg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0" y="1965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CO₂/Day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286000"/>
            <a:ext cx="3474720" cy="182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3500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pumps emit 2.1 kg CO₂ per acre daily at Rs 1,800/week — a double climate + cost penalty.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1417320"/>
            <a:ext cx="3657600" cy="2286000"/>
          </a:xfrm>
          <a:prstGeom prst="rect">
            <a:avLst/>
          </a:prstGeom>
          <a:solidFill>
            <a:srgbClr val="102010"/>
          </a:solidFill>
          <a:ln w="6350">
            <a:solidFill>
              <a:srgbClr val="1E3E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1417320"/>
            <a:ext cx="36576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4904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50808" y="14721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HRS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83880" y="1965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Lag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2286000"/>
            <a:ext cx="3474720" cy="182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3500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detect wilting 6 hours after electrochemical onset. By then, Rs 4,200/acre yield lost.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040" y="3886200"/>
            <a:ext cx="3657600" cy="2286000"/>
          </a:xfrm>
          <a:prstGeom prst="rect">
            <a:avLst/>
          </a:prstGeom>
          <a:solidFill>
            <a:srgbClr val="102010"/>
          </a:solidFill>
          <a:ln w="6350">
            <a:solidFill>
              <a:srgbClr val="1E3E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886200"/>
            <a:ext cx="36576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959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78408" y="39410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11480" y="4434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Over-Applied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754880"/>
            <a:ext cx="3474720" cy="182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81888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Over-application by 40% sends 2,400T of fertiliser into Brahmaputra watershed annually</a:t>
            </a: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0" y="3886200"/>
            <a:ext cx="3657600" cy="2286000"/>
          </a:xfrm>
          <a:prstGeom prst="rect">
            <a:avLst/>
          </a:prstGeom>
          <a:solidFill>
            <a:srgbClr val="102010"/>
          </a:solidFill>
          <a:ln w="6350">
            <a:solidFill>
              <a:srgbClr val="1E3E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06240" y="3886200"/>
            <a:ext cx="36576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959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864608" y="39410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1,200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297680" y="4434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Deficit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4754880"/>
            <a:ext cx="3474720" cy="182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481888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shortfall drives smallholders into 24–36% moneylender debt cycles.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92440" y="3886200"/>
            <a:ext cx="3657600" cy="2286000"/>
          </a:xfrm>
          <a:prstGeom prst="rect">
            <a:avLst/>
          </a:prstGeom>
          <a:solidFill>
            <a:srgbClr val="102010"/>
          </a:solidFill>
          <a:ln w="6350">
            <a:solidFill>
              <a:srgbClr val="1E3E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92440" y="3886200"/>
            <a:ext cx="3657600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3959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750808" y="39410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15K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8183880" y="4434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Barrier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83880" y="4754880"/>
            <a:ext cx="3474720" cy="182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83880" y="481888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precision agri kit is 6× beyond reach of the median Assam smallholder.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—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 GUARDIAN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198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Rs 2,499 device eliminates all six crises simultaneously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1521440" cy="914400"/>
          </a:xfrm>
          <a:prstGeom prst="rect">
            <a:avLst/>
          </a:prstGeom>
          <a:solidFill>
            <a:srgbClr val="102010"/>
          </a:solidFill>
          <a:ln w="1270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"Plant electrophysiology + Edge AI + Zero-fossil energy + Financial intelligence — all in Rs 2,499"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95728"/>
            <a:ext cx="3611880" cy="1874520"/>
          </a:xfrm>
          <a:prstGeom prst="rect">
            <a:avLst/>
          </a:prstGeom>
          <a:solidFill>
            <a:srgbClr val="0C1E0C"/>
          </a:solidFill>
          <a:ln w="63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95728"/>
            <a:ext cx="36118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505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4871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Electrophysiology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" y="2944368"/>
            <a:ext cx="3410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Ag/AgCl leaf electrodes detect membrane depolarisation 6 hours before visible wilting. 0.1M KCl bridge — no Faraday cage</a:t>
            </a: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2395728"/>
            <a:ext cx="3611880" cy="1874520"/>
          </a:xfrm>
          <a:prstGeom prst="rect">
            <a:avLst/>
          </a:prstGeom>
          <a:solidFill>
            <a:srgbClr val="0C1E0C"/>
          </a:solidFill>
          <a:ln w="63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395728"/>
            <a:ext cx="36118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4505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24871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Neural 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15968" y="2944368"/>
            <a:ext cx="3410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4-3-1 MLP runs in 23µs on ESP32 (240MHz C++). 92% accuracy on 10,000-cycle ICAR dataset. 12 weights, 16ms ADC→valve.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2395728"/>
            <a:ext cx="3611880" cy="1874520"/>
          </a:xfrm>
          <a:prstGeom prst="rect">
            <a:avLst/>
          </a:prstGeom>
          <a:solidFill>
            <a:srgbClr val="0C1E0C"/>
          </a:solidFill>
          <a:ln w="63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8092440" y="2395728"/>
            <a:ext cx="36118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450592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0" y="24871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Irrigation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02168" y="2944368"/>
            <a:ext cx="3410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275L drip vs 500L flood — 45% water saved per cycle. GPIO25 → ULN2003A → solenoid 30V in 16ms total latency.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7768" y="4418885"/>
            <a:ext cx="3611880" cy="1874520"/>
          </a:xfrm>
          <a:prstGeom prst="rect">
            <a:avLst/>
          </a:prstGeom>
          <a:solidFill>
            <a:srgbClr val="0C1E0C"/>
          </a:solidFill>
          <a:ln w="63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425696"/>
            <a:ext cx="36118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805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" y="45171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" y="4974336"/>
            <a:ext cx="3410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6V/1W + TP4056 MPPT + 18650 Li-Ion + bamboo gasifier. 0% fossil dependency. Net −1.7kg CO₂/acre/day</a:t>
            </a: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4425696"/>
            <a:ext cx="3611880" cy="1874520"/>
          </a:xfrm>
          <a:prstGeom prst="rect">
            <a:avLst/>
          </a:prstGeom>
          <a:solidFill>
            <a:srgbClr val="0C1E0C"/>
          </a:solidFill>
          <a:ln w="63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06240" y="4425696"/>
            <a:ext cx="36118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44805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00600" y="45171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315968" y="4974336"/>
            <a:ext cx="3410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scikit-learn OLS LinReg R²=0.87. Predicts Rs 892/mV profit. MNRE subsidy intelligence + capital deficit alerts.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92440" y="4425696"/>
            <a:ext cx="3611880" cy="1874520"/>
          </a:xfrm>
          <a:prstGeom prst="rect">
            <a:avLst/>
          </a:prstGeom>
          <a:solidFill>
            <a:srgbClr val="0C1E0C"/>
          </a:solidFill>
          <a:ln w="63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92440" y="4425696"/>
            <a:ext cx="36118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480560"/>
            <a:ext cx="621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686800" y="45171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02168" y="4974336"/>
            <a:ext cx="34107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1.5kg biochar/day from bamboo gasification → Rs 1,095/month MNRE income. Verifiable CO₂ sequestration.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— CORE SCIENCE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6-HOUR EARLY WARNING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plant stress before any human eye can see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577840" cy="1508760"/>
          </a:xfrm>
          <a:prstGeom prst="rect">
            <a:avLst/>
          </a:prstGeom>
          <a:solidFill>
            <a:srgbClr val="0A1E0A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73152" cy="150876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~1.20 mV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PLANT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H⁺-ATPase proton pump active. Stable membrane potential. Stomata open, photosynthesis normal, turgor pressure maintained</a:t>
            </a: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5577840" cy="1508760"/>
          </a:xfrm>
          <a:prstGeom prst="rect">
            <a:avLst/>
          </a:prstGeom>
          <a:solidFill>
            <a:srgbClr val="1A1200"/>
          </a:solidFill>
          <a:ln w="1270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63240"/>
            <a:ext cx="73152" cy="150876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54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1.80–2.50 mV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359359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 ONSET  ←  WE TRIGGER HERE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81304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deficit disrupts H⁺ gradient. Ion channels depolarise at ~500 nA. 6 hours before wilting — yield still recoverable.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4727822"/>
            <a:ext cx="5577840" cy="1508760"/>
          </a:xfrm>
          <a:prstGeom prst="rect">
            <a:avLst/>
          </a:prstGeom>
          <a:solidFill>
            <a:srgbClr val="1A0606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709160"/>
            <a:ext cx="73152" cy="150876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00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2.50 mV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523951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WILTING — TOO LATE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545896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Turgor pressure collapses. Rs 4,200/acre yield loss now irreversible. Traditional farming detects stress here</a:t>
            </a: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0862" y="1344542"/>
            <a:ext cx="5669280" cy="5230368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325880"/>
            <a:ext cx="566928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SENSOR WORKS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74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Ag/AgCl Electrodes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21284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Gold-plated silver/silver-chloride clips attach non-destructively to a representative leaf. 0.1M KCl electrolyte bridge stabilises half-cell potential</a:t>
            </a: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29718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2971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ADS1115 16-bit ADC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31012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 samples/second, 7µV effective noise floor. Resolves the 600µV stress transition — invisible to any 12-bit ADC. Differential input rejects EMI.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69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9440" y="4069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ESP32 Processing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440740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FreeRTOS Core 0 reads ADC at 5Hz. 4-3-1 MLP neural network evaluates drought probability in 23µs. P &gt; 0.75 → irrigation trigger.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5166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49440" y="5166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Solenoid Response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550468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GPIO25 HIGH → ULN2003A Darlington → solenoid valve 30V/500mA opens in 8ms. Total ADC-to-valve latency: 16ms.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5715000"/>
            <a:ext cx="5669280" cy="868680"/>
          </a:xfrm>
          <a:prstGeom prst="rect">
            <a:avLst/>
          </a:prstGeom>
          <a:solidFill>
            <a:srgbClr val="020802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5779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950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voltage_mV = raw * </a:t>
            </a:r>
            <a:r>
              <a:rPr lang="en-US" sz="95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0.1875f</a:t>
            </a:r>
            <a:r>
              <a:rPr lang="en-US" sz="950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1000.0f;
</a:t>
            </a: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(voltage_mV &gt; </a:t>
            </a:r>
            <a:r>
              <a:rPr lang="en-US" sz="95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1.80f</a:t>
            </a:r>
            <a:r>
              <a:rPr lang="en-US" sz="950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trigger_irrigation();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27019-C2B0-E6B9-C538-E0CA5BACE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A80FC"/>
          </a:solidFill>
          <a:ln w="12700">
            <a:solidFill>
              <a:srgbClr val="EA80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— EDGE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4-3-1 NEURAL NETWORK ON Rs 450 SILICON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10,000 ICAR cycles — inference in 23 microseconds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(4)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586484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23060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T/40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14400" y="2473452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510028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S/1000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3360420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396996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H/100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14400" y="4247388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283964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V/3mV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(3)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2029968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2066544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89120" y="2916936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2953512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389120" y="3803904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3840480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04088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(1)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2916936"/>
            <a:ext cx="868680" cy="658368"/>
          </a:xfrm>
          <a:prstGeom prst="ellipse">
            <a:avLst/>
          </a:prstGeom>
          <a:solidFill>
            <a:srgbClr val="102010"/>
          </a:solidFill>
          <a:ln w="19050">
            <a:solidFill>
              <a:srgbClr val="FF1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2953512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σ(z)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83080" y="1627632"/>
            <a:ext cx="2606040" cy="292608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3080" y="1627632"/>
            <a:ext cx="2606040" cy="1179576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1627632"/>
            <a:ext cx="2606040" cy="2066544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2514600"/>
            <a:ext cx="260604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3080" y="2514600"/>
            <a:ext cx="2606040" cy="292608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2514600"/>
            <a:ext cx="2606040" cy="1179576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3401568"/>
            <a:ext cx="260604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3080" y="3401568"/>
            <a:ext cx="260604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3080" y="3401568"/>
            <a:ext cx="2606040" cy="292608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4288536"/>
            <a:ext cx="260604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4288536"/>
            <a:ext cx="260604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3080" y="4288536"/>
            <a:ext cx="260604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1920240"/>
            <a:ext cx="2240280" cy="658368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57800" y="2807208"/>
            <a:ext cx="224028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3694176"/>
            <a:ext cx="2240280" cy="0"/>
          </a:xfrm>
          <a:prstGeom prst="line">
            <a:avLst/>
          </a:prstGeom>
          <a:noFill/>
          <a:ln w="6350">
            <a:solidFill>
              <a:srgbClr val="1E3E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6760" y="2578608"/>
            <a:ext cx="822960" cy="0"/>
          </a:xfrm>
          <a:prstGeom prst="line">
            <a:avLst/>
          </a:prstGeom>
          <a:noFill/>
          <a:ln w="25400">
            <a:solidFill>
              <a:srgbClr val="FF1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2331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&gt; 0.75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IRRIGATE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058400" y="1097280"/>
            <a:ext cx="1828800" cy="544068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58400" y="1097280"/>
            <a:ext cx="1828800" cy="45720"/>
          </a:xfrm>
          <a:prstGeom prst="rect">
            <a:avLst/>
          </a:prstGeom>
          <a:solidFill>
            <a:srgbClr val="EA80FC"/>
          </a:solidFill>
          <a:ln w="12700">
            <a:solidFill>
              <a:srgbClr val="EA80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0" y="1207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8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104120" y="15727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018520" y="15727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µs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104120" y="2029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018520" y="20299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104120" y="2487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018520" y="24871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104120" y="2944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018520" y="29443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104120" y="3401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018520" y="34015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104120" y="38587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018520" y="38587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104120" y="4315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1018520" y="43159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450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10412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018520" y="47731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ReLU+σ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104120" y="5230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018520" y="52303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Keras/Adam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104120" y="5687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1018520" y="56875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FreeRTOS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5230368"/>
            <a:ext cx="2267712" cy="1389888"/>
          </a:xfrm>
          <a:prstGeom prst="rect">
            <a:avLst/>
          </a:prstGeom>
          <a:solidFill>
            <a:srgbClr val="0A180A"/>
          </a:solidFill>
          <a:ln w="8890">
            <a:solidFill>
              <a:srgbClr val="FF1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20040" y="5230368"/>
            <a:ext cx="2267712" cy="3657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192" y="53218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93192" y="5614416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±0.5°C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93192" y="58704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/ 40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93192" y="614476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W=0.23, heat-stress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0" y="5230368"/>
            <a:ext cx="2267712" cy="1389888"/>
          </a:xfrm>
          <a:prstGeom prst="rect">
            <a:avLst/>
          </a:prstGeom>
          <a:solidFill>
            <a:srgbClr val="0A180A"/>
          </a:solidFill>
          <a:ln w="889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743200" y="5230368"/>
            <a:ext cx="2267712" cy="36576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16352" y="53218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Irradiance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816352" y="5614416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BH1750 lux → W/m²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816352" y="58704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/ 1000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816352" y="614476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W=0.78, strongest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166360" y="5230368"/>
            <a:ext cx="2267712" cy="1389888"/>
          </a:xfrm>
          <a:prstGeom prst="rect">
            <a:avLst/>
          </a:prstGeom>
          <a:solidFill>
            <a:srgbClr val="0A180A"/>
          </a:solidFill>
          <a:ln w="889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166360" y="5230368"/>
            <a:ext cx="2267712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39512" y="53218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239512" y="5614416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±2% RH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239512" y="58704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/ 100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239512" y="614476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W=0.41, buffer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589520" y="5230368"/>
            <a:ext cx="2267712" cy="1389888"/>
          </a:xfrm>
          <a:prstGeom prst="rect">
            <a:avLst/>
          </a:prstGeom>
          <a:solidFill>
            <a:srgbClr val="0A180A"/>
          </a:solidFill>
          <a:ln w="889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589520" y="5230368"/>
            <a:ext cx="226771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62672" y="53218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Voltage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662672" y="5614416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ADS1115 16-bit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662672" y="58704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/ 3 mV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662672" y="614476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W=0.67, primary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35A2D2-0382-0BF2-366E-F8718036F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9" y="345233"/>
            <a:ext cx="11908336" cy="60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0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— SUSTAINABILITY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SUSTAINABILITY SCORE: 89%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across 5 independent dimensions vs traditional and IoT alternatives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389888"/>
          <a:ext cx="7132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389888"/>
            <a:ext cx="4206240" cy="603504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389888"/>
            <a:ext cx="54864" cy="60350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4356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87968" y="1481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Sustainability Score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057400"/>
            <a:ext cx="4206240" cy="603504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35240" y="2057400"/>
            <a:ext cx="54864" cy="6035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210312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887968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 per irrigation cycle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635240" y="2724912"/>
            <a:ext cx="4206240" cy="603504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35240" y="2724912"/>
            <a:ext cx="54864" cy="60350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277063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−1.7kg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887968" y="2816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CO₂ per acre per day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635240" y="3392424"/>
            <a:ext cx="4206240" cy="603504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35240" y="3392424"/>
            <a:ext cx="54864" cy="6035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343814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887968" y="34838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 dependency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635240" y="4059936"/>
            <a:ext cx="4206240" cy="603504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35240" y="4059936"/>
            <a:ext cx="54864" cy="60350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410565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11×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887968" y="41513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ROI in 9 months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635240" y="4727448"/>
            <a:ext cx="4206240" cy="603504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635240" y="4727448"/>
            <a:ext cx="54864" cy="603504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477316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F0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&lt;5%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887968" y="4818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Fertiliser over-application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5559552"/>
            <a:ext cx="11521440" cy="530352"/>
          </a:xfrm>
          <a:prstGeom prst="rect">
            <a:avLst/>
          </a:prstGeom>
          <a:solidFill>
            <a:srgbClr val="0A180A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55778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 SCORE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743200" y="55778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2834640" y="5779008"/>
            <a:ext cx="2011680" cy="219456"/>
          </a:xfrm>
          <a:prstGeom prst="rect">
            <a:avLst/>
          </a:prstGeom>
          <a:solidFill>
            <a:srgbClr val="111511"/>
          </a:solidFill>
          <a:ln w="3810">
            <a:solidFill>
              <a:srgbClr val="1E3E1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834640" y="5779008"/>
            <a:ext cx="442570" cy="2194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22930" y="5760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760720" y="55778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IoT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852160" y="5779008"/>
            <a:ext cx="2011680" cy="219456"/>
          </a:xfrm>
          <a:prstGeom prst="rect">
            <a:avLst/>
          </a:prstGeom>
          <a:solidFill>
            <a:srgbClr val="111511"/>
          </a:solidFill>
          <a:ln w="3810">
            <a:solidFill>
              <a:srgbClr val="1E3E1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52160" y="5779008"/>
            <a:ext cx="1166774" cy="219456"/>
          </a:xfrm>
          <a:prstGeom prst="rect">
            <a:avLst/>
          </a:prstGeom>
          <a:solidFill>
            <a:srgbClr val="005F88"/>
          </a:solidFill>
          <a:ln w="12700">
            <a:solidFill>
              <a:srgbClr val="005F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64654" y="5760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778240" y="55778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GUARDIAN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8869680" y="5779008"/>
            <a:ext cx="2011680" cy="219456"/>
          </a:xfrm>
          <a:prstGeom prst="rect">
            <a:avLst/>
          </a:prstGeom>
          <a:solidFill>
            <a:srgbClr val="111511"/>
          </a:solidFill>
          <a:ln w="3810">
            <a:solidFill>
              <a:srgbClr val="1E3E1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869680" y="5779008"/>
            <a:ext cx="1790395" cy="21945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05795" y="5760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— RENEWABLE ENERGY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ZERO-FOSSIL HYBRID ENERGY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338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photovoltaic + bamboo gasification — 0% fossil fuel dependency, net-negative carbon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148840" cy="1828800"/>
          </a:xfrm>
          <a:prstGeom prst="rect">
            <a:avLst/>
          </a:prstGeom>
          <a:solidFill>
            <a:srgbClr val="102010"/>
          </a:solidFill>
          <a:ln w="1270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1488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☀️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" y="23134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 PANEL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264261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6V · 1W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Mono-Si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2331720"/>
            <a:ext cx="228600" cy="0"/>
          </a:xfrm>
          <a:prstGeom prst="line">
            <a:avLst/>
          </a:prstGeom>
          <a:noFill/>
          <a:ln w="25400">
            <a:solidFill>
              <a:srgbClr val="FFA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AA0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1760" y="1417320"/>
            <a:ext cx="2148840" cy="1828800"/>
          </a:xfrm>
          <a:prstGeom prst="rect">
            <a:avLst/>
          </a:prstGeom>
          <a:solidFill>
            <a:srgbClr val="102010"/>
          </a:solidFill>
          <a:ln w="1270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1417320"/>
            <a:ext cx="21488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508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06624" y="23134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TP4056 MPPT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06624" y="264261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eff.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ctrl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31720"/>
            <a:ext cx="228600" cy="0"/>
          </a:xfrm>
          <a:prstGeom prst="line">
            <a:avLst/>
          </a:prstGeom>
          <a:noFill/>
          <a:ln w="25400">
            <a:solidFill>
              <a:srgbClr val="FFA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AA0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2148840" cy="1828800"/>
          </a:xfrm>
          <a:prstGeom prst="rect">
            <a:avLst/>
          </a:prstGeom>
          <a:solidFill>
            <a:srgbClr val="102010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417320"/>
            <a:ext cx="21488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508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🔋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084064" y="23134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18650 BATTERY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84064" y="264261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3.7V · 2600mAh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2-night buffer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331720"/>
            <a:ext cx="2286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06640" y="1417320"/>
            <a:ext cx="2148840" cy="1828800"/>
          </a:xfrm>
          <a:prstGeom prst="rect">
            <a:avLst/>
          </a:prstGeom>
          <a:solidFill>
            <a:srgbClr val="102010"/>
          </a:solidFill>
          <a:ln w="1270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1417320"/>
            <a:ext cx="2148840" cy="4572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1508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🪵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461504" y="23134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BAMBOO GASIFIER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61504" y="264261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5kg→6kWh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96hr backup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555480" y="2331720"/>
            <a:ext cx="228600" cy="0"/>
          </a:xfrm>
          <a:prstGeom prst="line">
            <a:avLst/>
          </a:prstGeom>
          <a:noFill/>
          <a:ln w="25400">
            <a:solidFill>
              <a:srgbClr val="00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8048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6A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784080" y="1417320"/>
            <a:ext cx="2148840" cy="1828800"/>
          </a:xfrm>
          <a:prstGeom prst="rect">
            <a:avLst/>
          </a:prstGeom>
          <a:solidFill>
            <a:srgbClr val="102010"/>
          </a:solidFill>
          <a:ln w="1270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784080" y="1417320"/>
            <a:ext cx="2148840" cy="4572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0" y="1508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💻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9838944" y="23134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 × 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838944" y="264261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Wh/day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+ Analytics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456432"/>
            <a:ext cx="5669280" cy="2651760"/>
          </a:xfrm>
          <a:prstGeom prst="rect">
            <a:avLst/>
          </a:prstGeom>
          <a:solidFill>
            <a:srgbClr val="0A180A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456432"/>
            <a:ext cx="5669280" cy="4572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661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🪵  BAMBOO GASIFICATION PROCESS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81328" y="39136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kg bamboo waste (free, abundant in Assam's 30,000 bamboo farms)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43525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481328" y="435254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500°C downdraft gasification → syngas (LHV 18 MJ/kg, 65% CH₄)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7914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481328" y="479145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generator → 6 kWh → 96-hour continuous ESP32 backup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5230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BYPRODUCT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481328" y="52303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kg biochar/batch → 30% fixed carbon → CO₂ sequestration sink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5669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481328" y="5669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 subsidy: Rs 2/kg biochar = Rs 1,095/month passive farm income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3456432"/>
            <a:ext cx="5669280" cy="265176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72200" y="3456432"/>
            <a:ext cx="566928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5661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 CARBON BALANCE CALCULATION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3931920"/>
            <a:ext cx="54406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39684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pump (saved)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555480" y="39684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1744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+2.1 kg CO₂/day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4343400"/>
            <a:ext cx="54406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43799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gasifier (biogenic)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555480" y="43799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46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−2.8 kg CO₂/day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754880"/>
            <a:ext cx="54406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47914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Biochar sequestration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555480" y="47914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46A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−1.0 kg CO₂/day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63640" y="5166360"/>
            <a:ext cx="544068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5202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operation (solar)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555480" y="5202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−0.0 kg CO₂/day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63640" y="5577840"/>
            <a:ext cx="5440680" cy="365760"/>
          </a:xfrm>
          <a:prstGeom prst="rect">
            <a:avLst/>
          </a:prstGeom>
          <a:solidFill>
            <a:srgbClr val="0A2010"/>
          </a:solidFill>
          <a:ln w="6350">
            <a:solidFill>
              <a:srgbClr val="00C4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55080" y="5614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555480" y="56144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FF88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−1.7 kg CO₂/acre/day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172200" y="6144768"/>
            <a:ext cx="5669280" cy="457200"/>
          </a:xfrm>
          <a:prstGeom prst="rect">
            <a:avLst/>
          </a:prstGeom>
          <a:solidFill>
            <a:srgbClr val="0A1E0A"/>
          </a:solidFill>
          <a:ln w="6350">
            <a:solidFill>
              <a:srgbClr val="00C46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63640" y="61447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At 10,000 farms → 17,000 TONNES CO₂ sequestered per year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— ENVIRONMENTAL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IMPACT &amp; UN SDG ALIGNMENT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precision agriculture platform with a verifiable net-negative carbon footprint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389888"/>
          <a:ext cx="47548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57800" y="1389888"/>
            <a:ext cx="3291840" cy="1691640"/>
          </a:xfrm>
          <a:prstGeom prst="rect">
            <a:avLst/>
          </a:prstGeom>
          <a:solidFill>
            <a:srgbClr val="102010"/>
          </a:solidFill>
          <a:ln w="762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57800" y="1389888"/>
            <a:ext cx="3291840" cy="36576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30952" y="14813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14813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49240" y="1865376"/>
            <a:ext cx="31089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6-hour early warning prevents yield loss. 45% water efficiency. NPK precision reduces waste by 40%.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257800" y="3218688"/>
            <a:ext cx="3291840" cy="1691640"/>
          </a:xfrm>
          <a:prstGeom prst="rect">
            <a:avLst/>
          </a:prstGeom>
          <a:solidFill>
            <a:srgbClr val="102010"/>
          </a:solidFill>
          <a:ln w="762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57800" y="3218688"/>
            <a:ext cx="3291840" cy="36576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0952" y="33101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33101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49240" y="3694176"/>
            <a:ext cx="31089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bamboo gasification: 0% fossil fuel. 6 kWh backup per 5kg bamboo batch at Rs 0 fuel cost.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257800" y="5047488"/>
            <a:ext cx="3291840" cy="1691640"/>
          </a:xfrm>
          <a:prstGeom prst="rect">
            <a:avLst/>
          </a:prstGeom>
          <a:solidFill>
            <a:srgbClr val="102010"/>
          </a:solidFill>
          <a:ln w="762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57800" y="5047488"/>
            <a:ext cx="329184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0952" y="51389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12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91656" y="5138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30952" y="5188100"/>
            <a:ext cx="31089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500L→275L water waste. Reduces fertiliser runoff by 40%. Biochar utilises crop waste.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732520" y="1389888"/>
            <a:ext cx="3291840" cy="1691640"/>
          </a:xfrm>
          <a:prstGeom prst="rect">
            <a:avLst/>
          </a:prstGeom>
          <a:solidFill>
            <a:srgbClr val="102010"/>
          </a:solidFill>
          <a:ln w="762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732520" y="1389888"/>
            <a:ext cx="329184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05672" y="14813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13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92640" y="14813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823960" y="1865376"/>
            <a:ext cx="31089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−1.7 kg CO₂/acre/day. 17,000T sequestered at 10K farms. MNRE-verified carbon credits.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732520" y="3218688"/>
            <a:ext cx="3291840" cy="1691640"/>
          </a:xfrm>
          <a:prstGeom prst="rect">
            <a:avLst/>
          </a:prstGeom>
          <a:solidFill>
            <a:srgbClr val="102010"/>
          </a:solidFill>
          <a:ln w="762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732520" y="3218688"/>
            <a:ext cx="3291840" cy="36576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05672" y="33101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F0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15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92640" y="33101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on Land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823960" y="3694176"/>
            <a:ext cx="31089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salinisation of Brahmaputra watershed. Biochar improves soil health and water retention long-term.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805672" y="51389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970264" y="4969764"/>
            <a:ext cx="310896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0040" y="6080760"/>
            <a:ext cx="2176272" cy="594360"/>
          </a:xfrm>
          <a:prstGeom prst="rect">
            <a:avLst/>
          </a:prstGeom>
          <a:solidFill>
            <a:srgbClr val="0A180A"/>
          </a:solidFill>
          <a:ln w="6350">
            <a:solidFill>
              <a:srgbClr val="00C46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6080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 kg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20040" y="6419088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CO₂/Acre/Day Net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2660904" y="6080760"/>
            <a:ext cx="2176272" cy="594360"/>
          </a:xfrm>
          <a:prstGeom prst="rect">
            <a:avLst/>
          </a:prstGeom>
          <a:solidFill>
            <a:srgbClr val="0A180A"/>
          </a:solidFill>
          <a:ln w="6350">
            <a:solidFill>
              <a:srgbClr val="00C46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660904" y="6080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17,000 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2660904" y="6419088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Seq. @ 10K Farms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01768" y="6080760"/>
            <a:ext cx="2176272" cy="594360"/>
          </a:xfrm>
          <a:prstGeom prst="rect">
            <a:avLst/>
          </a:prstGeom>
          <a:solidFill>
            <a:srgbClr val="0A180A"/>
          </a:solidFill>
          <a:ln w="6350">
            <a:solidFill>
              <a:srgbClr val="FFAA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01768" y="6080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001768" y="6419088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Dependency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7342632" y="6080760"/>
            <a:ext cx="2176272" cy="594360"/>
          </a:xfrm>
          <a:prstGeom prst="rect">
            <a:avLst/>
          </a:prstGeom>
          <a:solidFill>
            <a:srgbClr val="0A180A"/>
          </a:solidFill>
          <a:ln w="6350">
            <a:solidFill>
              <a:srgbClr val="FFAA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42632" y="6080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1,095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342632" y="6419088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 Income/Month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9683496" y="6080760"/>
            <a:ext cx="2176272" cy="594360"/>
          </a:xfrm>
          <a:prstGeom prst="rect">
            <a:avLst/>
          </a:prstGeom>
          <a:solidFill>
            <a:srgbClr val="0A180A"/>
          </a:solidFill>
          <a:ln w="6350">
            <a:solidFill>
              <a:srgbClr val="69F0A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683496" y="6080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9F0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2,400 T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683496" y="6419088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Runoff Prevented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— FINANCIAL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FARM FINANCIAL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#2 + Flask + scikit-learn — predicting profit and unlocking government subsidies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389888"/>
          <a:ext cx="65836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5047488"/>
            <a:ext cx="6583680" cy="1536192"/>
          </a:xfrm>
          <a:prstGeom prst="rect">
            <a:avLst/>
          </a:prstGeom>
          <a:solidFill>
            <a:srgbClr val="0A180A"/>
          </a:solidFill>
          <a:ln w="12700">
            <a:solidFill>
              <a:srgbClr val="FFA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510235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FINANCIAL RETURN CALCULATION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5413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77640" y="5413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2,499 (one-time)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5623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water savings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977640" y="5623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1,260 (45% × 500L × Rs 5.6/L)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58338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 biochar income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77640" y="5833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1,095/month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6044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improvement (6-hr warning)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977640" y="60441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4,200/acre saved per event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6254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77640" y="6254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 in 9 months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86600" y="1389888"/>
            <a:ext cx="4754880" cy="5193792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086600" y="1389888"/>
            <a:ext cx="475488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14996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— FINANCIAL ENGINE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2237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72400" y="1892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#2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21854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MicroPython 1.20 · uasyncio · 520KB heap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0" y="24231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sensor data weekly. HTTP POST ujson payload to Flask server every 604,800 seconds.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2237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77240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2.3.2 + Gunicorn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33284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concurrent · Nginx reverse proxy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772400" y="35661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receives data. Pandas DataFrame processing. Jinja2 Chart.js dashboard at 5s refresh.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237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77240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OLS LinReg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0" y="44714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0.87 · β = Rs 892/mV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47091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profit = β₀ + β₁·voltage on 5-week rolling window. Forecasts next-week farm revenue.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22376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7772400" y="5321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 Subsidy Engine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772400" y="56144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PM-Kusum · PMFBY · Soil Health Card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772400" y="58521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capital deficit. Triggers automated subsidy alerts. Rs 1,095/month biochar income verified.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— COMPETITIVE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VALIDATED AGAINST PEER-REVIEWED RESEARCH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2025 — Smart Agricultural Technology Journal S2772375525004010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11521440" cy="5029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0F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Elsevier 2025 (CNN)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GUARDIAN (MLP)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(deep network)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4-3-1 MLP (23µs)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robot + lab 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ESP32 240MHz bare-metal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Greenhouse controlled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paddy field, Assam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Faraday Cage?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 (0.1M KCl bridge)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2–5 Lakh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2,499 (100× cheaper)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Saving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(2.25× better)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~100ms (CNN GPU)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23µs (ESP32 C++)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electricity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+ bamboo (0% fossil)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 kg/day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 kg/day (net negative)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institution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2,499 smallholder farmer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solidFill>
            <a:srgbClr val="0A1A0A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55664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Elsevier paper proves the science is valid. Crop Guardian proves it can be deployed at scale — in the real world, on real farms, for farmers who actually need it."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— COST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 OF MATERIALS — Rs 2,499 TOTAL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cheaper than any competing commercial precision agriculture kit in India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778240" cy="48865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0F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0F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0F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(Rs)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ESP32-WROOM-32D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Xtensa LX6 · 240MHz · 520KB SRAM · WiFi 802.11 b/g/n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 ADC Module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delta-sigma · 860 SPS · I2C 400kHz · ±7µV ENOB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Sensor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±0.5°C · Humidity ±2% RH · single-wire protocol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BH1750 Light Sensor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1–65535 lux · I2C · 800 W/m² PAR equivalent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· GPIO32 · 0–100% VWC · 3.3V compatible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Ag/AgCl Electrodes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Gold-plated leaf clips · 0.1M KCl electrolyte bridge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 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6V 1W monocrystalline · 5–6 Wh/day generation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TP4056 MPPT Charger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Li-Ion controller · 80% coulombic efficiency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18650 Li-Ion Battery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3.7V · 2600 mAh · 2-night buffer without solar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Solenoid Valve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30V · 500mA · latching · 8ms armature close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ULN2003A Driver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Darlington array · optocoupler isolation · 5V TTL→30V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Drip Irrigation Fittings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Micro-emitters · tubing · connectors for field deployment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 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+ Wiring + Case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PCB · jumper wires · enclosure · connectors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 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Resistors · capacitors · headers · solder · heatshrink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A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SYSTEM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0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dual-ESP32 precision agriculture 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2,499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6345936"/>
            <a:ext cx="11521440" cy="384048"/>
          </a:xfrm>
          <a:prstGeom prst="rect">
            <a:avLst/>
          </a:prstGeom>
          <a:solidFill>
            <a:srgbClr val="0A180A"/>
          </a:solidFill>
          <a:ln w="6350">
            <a:solidFill>
              <a:srgbClr val="00C4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0080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— SCALE &amp;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 FARMS → NATIONAL SCALE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already built for it — ESP-NOW mesh, Kubernetes, blockchain carbon credits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176272" cy="114300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17627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4475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08483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Farm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79192" y="1371600"/>
            <a:ext cx="2176272" cy="114300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9192" y="1371600"/>
            <a:ext cx="217627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44475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112M L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79192" y="208483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Season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38344" y="1371600"/>
            <a:ext cx="2176272" cy="114300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38344" y="1371600"/>
            <a:ext cx="217627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144475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17,000T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038344" y="208483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Sequestered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97496" y="1371600"/>
            <a:ext cx="2176272" cy="114300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97496" y="1371600"/>
            <a:ext cx="217627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44475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12.4Cr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97496" y="208483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Farmer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Unlocked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56648" y="1371600"/>
            <a:ext cx="2176272" cy="114300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56648" y="1371600"/>
            <a:ext cx="2176272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56648" y="144475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9F0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23,000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756648" y="208483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in ESP-NOW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Maintenance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697480"/>
            <a:ext cx="7315200" cy="338328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697480"/>
            <a:ext cx="7315200" cy="4572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79806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 ARCHITECTURE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1546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172968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Mesh Network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3429000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1Mbit/s · 200m LOS · no router needed · self-healing · ECDH-256 OTA · 1% packet loss tolerance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73075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749040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Kubernetes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4005072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500 concurrent sessions · Nginx reverse proxy · horizontal pod autoscaling to 100,000+ nodes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430682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⛓️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325112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Carbon Credits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4581144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#2 logs biochar batch weight · Smart contracts mint CCRBN tokens · Verra international market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8828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" y="4901184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Data Grid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" y="5157216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crop stress, weather, financial data across all farms · Ministry of Agriculture API integration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54589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4400" y="5477256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5733288"/>
            <a:ext cx="6537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farm's neural network improves shared model · Privacy-preserved · No central data collection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18120" y="2697480"/>
            <a:ext cx="4023360" cy="3383280"/>
          </a:xfrm>
          <a:prstGeom prst="rect">
            <a:avLst/>
          </a:prstGeom>
          <a:solidFill>
            <a:srgbClr val="0A180A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818120" y="2697480"/>
            <a:ext cx="402336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2798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ROADMAP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36992" y="3246120"/>
            <a:ext cx="128016" cy="128016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3154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Q2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19872" y="34290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50 farms, Golaghat dist.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36992" y="3813048"/>
            <a:ext cx="128016" cy="128016"/>
          </a:xfrm>
          <a:prstGeom prst="ellipse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19872" y="3721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Q4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119872" y="39959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500 farms, Assam state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936992" y="4379976"/>
            <a:ext cx="128016" cy="128016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19872" y="42885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 Q2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119872" y="4562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North-East India: 5,000 farms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936992" y="4946904"/>
            <a:ext cx="128016" cy="128016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19872" y="48554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 Q4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19872" y="51297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National: 10,000+ farms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936992" y="5513832"/>
            <a:ext cx="128016" cy="12801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19872" y="5422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2028+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19872" y="56967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expansion, UNDP partnership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6236208"/>
            <a:ext cx="11521440" cy="502920"/>
          </a:xfrm>
          <a:prstGeom prst="rect">
            <a:avLst/>
          </a:prstGeom>
          <a:solidFill>
            <a:srgbClr val="0A2010"/>
          </a:solidFill>
          <a:ln w="8890">
            <a:solidFill>
              <a:srgbClr val="00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57200" y="6254496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VISION:  The cheapest, most sustainable precision agriculture platform that actually reaches the farmers who need it most.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2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— MODULAR EXPANSION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SUSTAINABILITY ADD-ON MODULES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converts waste into value — financially self-sustaining from day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577840" cy="246888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577840" cy="45720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087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8408" y="1490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MOD-01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78408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Marketplace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89120" y="1527048"/>
            <a:ext cx="1389888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00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52704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1,095/month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0756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#2 logs each biochar batch weight to blockchain ledger. Smart contracts mint verified CCRBN carbon tokens sold on MNRE/Verra marketplace</a:t>
            </a: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7512" y="27706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Gasifier → 1.5kg biochar/day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04495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7512" y="30449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#2 logs batch weight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31927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7512" y="33192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 rate: Rs 2/kg → Rs 90/day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59359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7512" y="35935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1,095/month verified passive income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5577840" cy="246888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417320"/>
            <a:ext cx="55778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5087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76288" y="1490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MOD-02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6288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Solar Micro-Grid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1527048"/>
            <a:ext cx="1389888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FFA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87000" y="152704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3.50/kWh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0756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peer-to-peer energy sharing. Each farm exports 1–2 kWh surplus daily at Rs 3.50/kWh credit. 12 kWh shared across 10-farm village cluster.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77063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65392" y="27706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surplus detected automatically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04495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65392" y="30449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broadcasts availability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31927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65392" y="33192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farms receive &amp; credit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59359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65392" y="35935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kWh/day village energy shared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069080"/>
            <a:ext cx="5577840" cy="246888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069080"/>
            <a:ext cx="55778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41605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78408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MOD-03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78408" y="4389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 Harvesting AI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89120" y="4178808"/>
            <a:ext cx="1389888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417880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4,800L/monsoon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7274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BMP280 pressure sensor detects rainfall. Automatically diverts runoff to storage tank. DHT22 humidity + leaf sensor determines optimal harvest windows.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542239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7512" y="54223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BMP280 detects precipitation event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11480" y="569671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67512" y="56967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Motorised diverter valve opens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11480" y="597103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67512" y="59710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level monitored by ultrasonic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1480" y="624535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67512" y="62453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4,800L saved per monsoon season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17920" y="4069080"/>
            <a:ext cx="5577840" cy="246888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0" y="4069080"/>
            <a:ext cx="55778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41605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876288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MOD-04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76288" y="4389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from Rice Straw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287000" y="4178808"/>
            <a:ext cx="1389888" cy="365760"/>
          </a:xfrm>
          <a:prstGeom prst="rect">
            <a:avLst/>
          </a:prstGeom>
          <a:solidFill>
            <a:srgbClr val="0A1E0A"/>
          </a:solidFill>
          <a:ln w="6350">
            <a:solidFill>
              <a:srgbClr val="FFAA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87000" y="417880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kWh/day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09360" y="47274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Anaerobic digester converts rice straw waste (burning banned, Rs 5,000 penalty) into biogas. 2 kWh/day replaces LPG. Eliminates Rs 900/year fine risk.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09360" y="542239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565392" y="54223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straw fed to mini-digester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309360" y="569671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65392" y="56967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anaerobic digestion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309360" y="597103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565392" y="59710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collected → 2 kWh/day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09360" y="624535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565392" y="62453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burning, Rs 900 fine avoided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152144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E5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D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8686800" cy="8686800"/>
          </a:xfrm>
          <a:prstGeom prst="ellipse">
            <a:avLst/>
          </a:prstGeom>
          <a:solidFill>
            <a:srgbClr val="0A1A0A">
              <a:alpha val="7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1097280"/>
            <a:ext cx="6858000" cy="6858000"/>
          </a:xfrm>
          <a:prstGeom prst="ellipse">
            <a:avLst/>
          </a:prstGeom>
          <a:solidFill>
            <a:srgbClr val="061406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00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SUSTAINATHON 2026  ·  PRECISION AGRICULTURE  ·  RENEWABLE ENERGY  ·  EDGE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0FF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PLANET CAN'T WAIT.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098721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NEITHER CAN ASSAM'S FARMERS.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86840" y="3002941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"Rs 2,499 to save a crop, save water, and save the planet. That's not a tradeoff — that's engineering."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657600"/>
            <a:ext cx="17830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Score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4028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40280" y="3657600"/>
            <a:ext cx="17830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4028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6052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60520" y="3657600"/>
            <a:ext cx="17830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−1.7kg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6052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CO₂/Day Net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3657600"/>
            <a:ext cx="17830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11×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8076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 9 Mo.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0100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01000" y="3657600"/>
            <a:ext cx="17830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 2,499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00100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92124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21240" y="3657600"/>
            <a:ext cx="1783080" cy="36576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24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92124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25880" y="4892040"/>
            <a:ext cx="9418320" cy="1280160"/>
          </a:xfrm>
          <a:prstGeom prst="rect">
            <a:avLst/>
          </a:prstGeom>
          <a:solidFill>
            <a:srgbClr val="0A180A"/>
          </a:solidFill>
          <a:ln w="10160">
            <a:solidFill>
              <a:srgbClr val="00C46A"/>
            </a:solidFill>
            <a:prstDash val="solid"/>
          </a:ln>
          <a:effectLst>
            <a:outerShdw blurRad="203200" dist="762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pPr algn="ctr"/>
            <a:r>
              <a:rPr lang="en-IN" dirty="0">
                <a:solidFill>
                  <a:srgbClr val="00B050"/>
                </a:solidFill>
              </a:rPr>
              <a:t>https://Tinyurl.com/corpgurdinfo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4983480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508760" y="539496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371600" y="5715000"/>
            <a:ext cx="94183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5788152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150" dirty="0">
                <a:solidFill>
                  <a:srgbClr val="1E3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 GUARDIAN  ·  SUSTAINATHON 2026  ·  © NAYANMONI KHATONIAR  ·  GOLAGHAT ENGINEERING COLLEGE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E6538-58F1-AAD8-C883-AD18018E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9B3B876-0820-90B0-F4E6-D3484FEB66B9}"/>
              </a:ext>
            </a:extLst>
          </p:cNvPr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46A"/>
          </a:solidFill>
          <a:ln w="12700">
            <a:solidFill>
              <a:srgbClr val="00C46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E0CDE3-BB21-EB96-6323-120568F9742D}"/>
              </a:ext>
            </a:extLst>
          </p:cNvPr>
          <p:cNvSpPr/>
          <p:nvPr/>
        </p:nvSpPr>
        <p:spPr>
          <a:xfrm>
            <a:off x="365760" y="4114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F9A648-E176-F77B-2D85-710752565AE8}"/>
              </a:ext>
            </a:extLst>
          </p:cNvPr>
          <p:cNvSpPr/>
          <p:nvPr/>
        </p:nvSpPr>
        <p:spPr>
          <a:xfrm>
            <a:off x="457200" y="100584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55B736E-97D7-8D4E-03B8-19B0A643A8E5}"/>
              </a:ext>
            </a:extLst>
          </p:cNvPr>
          <p:cNvSpPr/>
          <p:nvPr/>
        </p:nvSpPr>
        <p:spPr>
          <a:xfrm>
            <a:off x="457200" y="2098721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200" dirty="0">
                <a:solidFill>
                  <a:srgbClr val="00C4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113FC8-FCB5-BCF7-B19C-CC4D63FEDAFF}"/>
              </a:ext>
            </a:extLst>
          </p:cNvPr>
          <p:cNvSpPr/>
          <p:nvPr/>
        </p:nvSpPr>
        <p:spPr>
          <a:xfrm>
            <a:off x="1386840" y="3002941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FE9A347-CB9D-8129-7E6D-0E4A3826C1FB}"/>
              </a:ext>
            </a:extLst>
          </p:cNvPr>
          <p:cNvSpPr/>
          <p:nvPr/>
        </p:nvSpPr>
        <p:spPr>
          <a:xfrm>
            <a:off x="224028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8E8104-A9E3-ED54-7093-3C24554C15AF}"/>
              </a:ext>
            </a:extLst>
          </p:cNvPr>
          <p:cNvSpPr/>
          <p:nvPr/>
        </p:nvSpPr>
        <p:spPr>
          <a:xfrm>
            <a:off x="416052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5F32B70-8607-82D8-FC7E-290DA6404937}"/>
              </a:ext>
            </a:extLst>
          </p:cNvPr>
          <p:cNvSpPr/>
          <p:nvPr/>
        </p:nvSpPr>
        <p:spPr>
          <a:xfrm>
            <a:off x="416052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AC57878-593E-EEA7-F3BA-60E9A14941EF}"/>
              </a:ext>
            </a:extLst>
          </p:cNvPr>
          <p:cNvSpPr/>
          <p:nvPr/>
        </p:nvSpPr>
        <p:spPr>
          <a:xfrm>
            <a:off x="608076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5B8D083-C8E7-2557-E524-D2A9EFA44346}"/>
              </a:ext>
            </a:extLst>
          </p:cNvPr>
          <p:cNvSpPr/>
          <p:nvPr/>
        </p:nvSpPr>
        <p:spPr>
          <a:xfrm>
            <a:off x="800100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6CD3CA7-AAEB-FB37-87A1-8E2B34AEF6E4}"/>
              </a:ext>
            </a:extLst>
          </p:cNvPr>
          <p:cNvSpPr/>
          <p:nvPr/>
        </p:nvSpPr>
        <p:spPr>
          <a:xfrm>
            <a:off x="800100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4E90C0E-1CDA-8DB6-7D50-275995C0AC93}"/>
              </a:ext>
            </a:extLst>
          </p:cNvPr>
          <p:cNvSpPr/>
          <p:nvPr/>
        </p:nvSpPr>
        <p:spPr>
          <a:xfrm>
            <a:off x="9921240" y="3657600"/>
            <a:ext cx="1783080" cy="1005840"/>
          </a:xfrm>
          <a:prstGeom prst="rect">
            <a:avLst/>
          </a:prstGeom>
          <a:solidFill>
            <a:srgbClr val="102010"/>
          </a:solidFill>
          <a:ln w="635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9370332-8188-D187-F0BA-50777371EDEC}"/>
              </a:ext>
            </a:extLst>
          </p:cNvPr>
          <p:cNvSpPr/>
          <p:nvPr/>
        </p:nvSpPr>
        <p:spPr>
          <a:xfrm>
            <a:off x="9921240" y="37307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5AE19F4-E144-306D-3C82-4DFF030B6AD2}"/>
              </a:ext>
            </a:extLst>
          </p:cNvPr>
          <p:cNvSpPr/>
          <p:nvPr/>
        </p:nvSpPr>
        <p:spPr>
          <a:xfrm>
            <a:off x="9921240" y="4279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10D8284-13F4-43D8-5782-B9C7EFA688D3}"/>
              </a:ext>
            </a:extLst>
          </p:cNvPr>
          <p:cNvSpPr/>
          <p:nvPr/>
        </p:nvSpPr>
        <p:spPr>
          <a:xfrm>
            <a:off x="1508760" y="4983480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DC15BC0-E8FA-D5D2-C74C-E48D7CEE5AEB}"/>
              </a:ext>
            </a:extLst>
          </p:cNvPr>
          <p:cNvSpPr/>
          <p:nvPr/>
        </p:nvSpPr>
        <p:spPr>
          <a:xfrm>
            <a:off x="1508760" y="539496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43E6D03-77B7-270F-0E41-286E15986AD6}"/>
              </a:ext>
            </a:extLst>
          </p:cNvPr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kern="0" spc="150" dirty="0">
                <a:solidFill>
                  <a:srgbClr val="1E3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 GUARDIAN  ·  SUSTAINATHON 2026  ·  © NAYANMONI KHATONIAR  ·  GOLAGHAT ENGINEERING COLLEGE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338248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2592</Words>
  <Application>Microsoft Office PowerPoint</Application>
  <PresentationFormat>Widescreen</PresentationFormat>
  <Paragraphs>549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Calibri 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Guardian – Sustainathon 2026</dc:title>
  <dc:subject>PptxGenJS Presentation</dc:subject>
  <dc:creator>Nayanmoni Khatoniar</dc:creator>
  <cp:lastModifiedBy>Nayanmoni Khatoniar</cp:lastModifiedBy>
  <cp:revision>12</cp:revision>
  <dcterms:created xsi:type="dcterms:W3CDTF">2026-03-07T02:39:10Z</dcterms:created>
  <dcterms:modified xsi:type="dcterms:W3CDTF">2026-03-13T05:20:44Z</dcterms:modified>
</cp:coreProperties>
</file>